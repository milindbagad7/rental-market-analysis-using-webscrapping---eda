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61" r:id="rId2"/>
    <p:sldId id="257" r:id="rId3"/>
    <p:sldId id="259" r:id="rId4"/>
    <p:sldId id="260" r:id="rId5"/>
    <p:sldId id="262" r:id="rId6"/>
    <p:sldId id="263" r:id="rId7"/>
    <p:sldId id="264" r:id="rId8"/>
    <p:sldId id="268" r:id="rId9"/>
    <p:sldId id="265" r:id="rId10"/>
    <p:sldId id="266" r:id="rId11"/>
    <p:sldId id="267" r:id="rId12"/>
    <p:sldId id="273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 varScale="1">
        <p:scale>
          <a:sx n="84" d="100"/>
          <a:sy n="84" d="100"/>
        </p:scale>
        <p:origin x="8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7193E-59B1-4A24-8D24-B73828C28ED2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9D3C18-B338-435A-A148-4AA068A570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412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D3C18-B338-435A-A148-4AA068A5702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888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4A8B-7DDE-464B-8784-6AE709C4A5A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8233D00-6443-450B-A786-1891FCBEB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487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4A8B-7DDE-464B-8784-6AE709C4A5A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33D00-6443-450B-A786-1891FCBEB124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021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4A8B-7DDE-464B-8784-6AE709C4A5A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33D00-6443-450B-A786-1891FCBEB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7503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4A8B-7DDE-464B-8784-6AE709C4A5A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33D00-6443-450B-A786-1891FCBEB124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736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4A8B-7DDE-464B-8784-6AE709C4A5A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33D00-6443-450B-A786-1891FCBEB124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352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4A8B-7DDE-464B-8784-6AE709C4A5A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33D00-6443-450B-A786-1891FCBEB124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54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4A8B-7DDE-464B-8784-6AE709C4A5A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33D00-6443-450B-A786-1891FCBEB1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694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4A8B-7DDE-464B-8784-6AE709C4A5A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33D00-6443-450B-A786-1891FCBEB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166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AFA4A8B-7DDE-464B-8784-6AE709C4A5A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33D00-6443-450B-A786-1891FCBEB124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79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4A8B-7DDE-464B-8784-6AE709C4A5A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33D00-6443-450B-A786-1891FCBEB124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34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4A8B-7DDE-464B-8784-6AE709C4A5A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33D00-6443-450B-A786-1891FCBEB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148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FA4A8B-7DDE-464B-8784-6AE709C4A5A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8233D00-6443-450B-A786-1891FCBEB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21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lind5" TargetMode="External"/><Relationship Id="rId2" Type="http://schemas.openxmlformats.org/officeDocument/2006/relationships/hyperlink" Target="https://www.linkedin.com/in/milind-bagad-82786a224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1AFFC62-4418-1A5C-325C-5E3E0BEE2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A1EBBE-4BF6-015A-9632-FD1CC0DD4876}"/>
              </a:ext>
            </a:extLst>
          </p:cNvPr>
          <p:cNvSpPr txBox="1"/>
          <p:nvPr/>
        </p:nvSpPr>
        <p:spPr>
          <a:xfrm>
            <a:off x="3012186" y="3791635"/>
            <a:ext cx="61676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Rental Market Analysis Using </a:t>
            </a:r>
          </a:p>
          <a:p>
            <a:pPr algn="ctr"/>
            <a:r>
              <a:rPr lang="en-US" sz="2800" b="1" dirty="0"/>
              <a:t>Web Scraping &amp; EDA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E26213-85E4-C50A-4EEF-AF9DB0EDFA43}"/>
              </a:ext>
            </a:extLst>
          </p:cNvPr>
          <p:cNvSpPr txBox="1"/>
          <p:nvPr/>
        </p:nvSpPr>
        <p:spPr>
          <a:xfrm>
            <a:off x="345109" y="6126480"/>
            <a:ext cx="2667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/>
              <a:t>Presented By :- Milind Bagad</a:t>
            </a:r>
          </a:p>
        </p:txBody>
      </p:sp>
    </p:spTree>
    <p:extLst>
      <p:ext uri="{BB962C8B-B14F-4D97-AF65-F5344CB8AC3E}">
        <p14:creationId xmlns:p14="http://schemas.microsoft.com/office/powerpoint/2010/main" val="2144151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28C550-24E3-29D7-A112-4E2247A8D58C}"/>
              </a:ext>
            </a:extLst>
          </p:cNvPr>
          <p:cNvSpPr txBox="1"/>
          <p:nvPr/>
        </p:nvSpPr>
        <p:spPr>
          <a:xfrm>
            <a:off x="442912" y="1822537"/>
            <a:ext cx="11306175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Hello, I am Milind Suresh Bagad.</a:t>
            </a:r>
            <a:br>
              <a:rPr lang="en-IN" sz="1800" dirty="0"/>
            </a:br>
            <a:br>
              <a:rPr lang="en-IN" sz="1800" dirty="0"/>
            </a:br>
            <a:r>
              <a:rPr lang="en-IN" sz="1800" dirty="0"/>
              <a:t>I have completed my bachelors degree in computer Application (BCA).</a:t>
            </a:r>
            <a:br>
              <a:rPr lang="en-IN" sz="1800" dirty="0"/>
            </a:br>
            <a:br>
              <a:rPr lang="en-IN" sz="1800" dirty="0"/>
            </a:br>
            <a:r>
              <a:rPr lang="en-US" sz="1800" dirty="0"/>
              <a:t>I’m interested in Data Science because I enjoy working with data, finding patterns, and solving real problems. I enjoy learning new things, improving my skills, and working on projects that make a difference</a:t>
            </a:r>
            <a:r>
              <a:rPr lang="en-US" sz="1800" b="1" dirty="0"/>
              <a:t>.</a:t>
            </a:r>
          </a:p>
          <a:p>
            <a:endParaRPr lang="en-US" b="1" dirty="0"/>
          </a:p>
          <a:p>
            <a:r>
              <a:rPr lang="en-US" sz="1600" b="1" dirty="0"/>
              <a:t>Project :- </a:t>
            </a:r>
          </a:p>
          <a:p>
            <a:endParaRPr lang="en-US" sz="1600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Grocery Store Analysis using SQL.</a:t>
            </a:r>
            <a:br>
              <a:rPr lang="en-US" sz="1600" dirty="0"/>
            </a:br>
            <a:br>
              <a:rPr lang="en-US" sz="1600" b="1" dirty="0"/>
            </a:br>
            <a:br>
              <a:rPr lang="en-US" sz="1600" b="1" dirty="0"/>
            </a:br>
            <a:r>
              <a:rPr lang="en-US" sz="1600" dirty="0" err="1"/>
              <a:t>Linkedin</a:t>
            </a:r>
            <a:r>
              <a:rPr lang="en-US" sz="1600" b="1" dirty="0"/>
              <a:t> : </a:t>
            </a:r>
            <a:r>
              <a:rPr lang="en-US" sz="1600" b="1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https://www.linkedin.com/in/milind-bagad-82786a224</a:t>
            </a:r>
            <a:br>
              <a:rPr lang="en-US" sz="1600" b="1" dirty="0"/>
            </a:br>
            <a:r>
              <a:rPr lang="en-US" sz="1600" b="1" dirty="0"/>
              <a:t> </a:t>
            </a:r>
            <a:br>
              <a:rPr lang="en-US" sz="1600" b="1" dirty="0"/>
            </a:br>
            <a:r>
              <a:rPr lang="en-US" sz="1600" dirty="0"/>
              <a:t>GitHub</a:t>
            </a:r>
            <a:r>
              <a:rPr lang="en-US" sz="1600" b="1" dirty="0"/>
              <a:t> :</a:t>
            </a:r>
            <a:r>
              <a:rPr lang="en-US" sz="1600" b="1" dirty="0">
                <a:solidFill>
                  <a:srgbClr val="E6E6E6"/>
                </a:solidFill>
              </a:rPr>
              <a:t> </a:t>
            </a:r>
            <a:r>
              <a:rPr lang="en-US" sz="1600" b="1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https://github.com/Milind5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AD72202-944C-49CB-88FD-343EA78F94DB}"/>
              </a:ext>
            </a:extLst>
          </p:cNvPr>
          <p:cNvSpPr txBox="1">
            <a:spLocks/>
          </p:cNvSpPr>
          <p:nvPr/>
        </p:nvSpPr>
        <p:spPr>
          <a:xfrm>
            <a:off x="442912" y="300085"/>
            <a:ext cx="10811256" cy="796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chemeClr val="accent5">
                    <a:lumMod val="75000"/>
                  </a:schemeClr>
                </a:solidFill>
              </a:rPr>
              <a:t>About Me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F4756B-2304-D7CF-36E3-36708D5288BE}"/>
              </a:ext>
            </a:extLst>
          </p:cNvPr>
          <p:cNvCxnSpPr>
            <a:cxnSpLocks/>
          </p:cNvCxnSpPr>
          <p:nvPr/>
        </p:nvCxnSpPr>
        <p:spPr>
          <a:xfrm flipH="1">
            <a:off x="442912" y="1216787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6803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39CFA42-8E77-E6A7-EFA0-9313E6D81B19}"/>
              </a:ext>
            </a:extLst>
          </p:cNvPr>
          <p:cNvSpPr txBox="1">
            <a:spLocks/>
          </p:cNvSpPr>
          <p:nvPr/>
        </p:nvSpPr>
        <p:spPr>
          <a:xfrm>
            <a:off x="442912" y="300085"/>
            <a:ext cx="10811256" cy="796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IN" sz="4800" b="1" dirty="0">
                <a:solidFill>
                  <a:schemeClr val="accent5">
                    <a:lumMod val="75000"/>
                  </a:schemeClr>
                </a:solidFill>
              </a:rPr>
              <a:t>Objective Of  The Project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6AFEC5-C901-C28C-E545-3A2F7689423D}"/>
              </a:ext>
            </a:extLst>
          </p:cNvPr>
          <p:cNvCxnSpPr>
            <a:cxnSpLocks/>
          </p:cNvCxnSpPr>
          <p:nvPr/>
        </p:nvCxnSpPr>
        <p:spPr>
          <a:xfrm flipH="1">
            <a:off x="442912" y="1216787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2059E0A-6552-07CB-4F05-4EAA09EC55FA}"/>
              </a:ext>
            </a:extLst>
          </p:cNvPr>
          <p:cNvSpPr txBox="1"/>
          <p:nvPr/>
        </p:nvSpPr>
        <p:spPr>
          <a:xfrm>
            <a:off x="442912" y="1336714"/>
            <a:ext cx="1130617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1. To build a structured rental dataset using web scraping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 Extract real-time property information from websites because no clean dataset exists publicly.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2. To clean, preprocess, and standardize the scraped data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 Convert raw, inconsistent text (rent, area, furnishing, floor, BHK) into usable numeric and categorical fields.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3. To analyze rental patterns using Exploratory Data Analysis (EDA)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 Study distributions, trends, correlations, and locality-wise variations in rent.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4. To identify key factors that influence rental pricing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 Understand the impact of BHK, carpet area, locality, city, floor number, and furnishing on rent.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5. To generate actionable insights for decision-making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 Help tenants, owners, and real-estate stakeholders make fair, data-driven rental choices.</a:t>
            </a:r>
          </a:p>
        </p:txBody>
      </p:sp>
    </p:spTree>
    <p:extLst>
      <p:ext uri="{BB962C8B-B14F-4D97-AF65-F5344CB8AC3E}">
        <p14:creationId xmlns:p14="http://schemas.microsoft.com/office/powerpoint/2010/main" val="1655263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E36A2C2-C2CE-2C7A-C980-F3C84C90EBC3}"/>
              </a:ext>
            </a:extLst>
          </p:cNvPr>
          <p:cNvSpPr/>
          <p:nvPr/>
        </p:nvSpPr>
        <p:spPr>
          <a:xfrm>
            <a:off x="3930920" y="5498029"/>
            <a:ext cx="3922776" cy="768096"/>
          </a:xfrm>
          <a:prstGeom prst="roundRect">
            <a:avLst>
              <a:gd name="adj" fmla="val 38572"/>
            </a:avLst>
          </a:prstGeom>
          <a:gradFill>
            <a:gsLst>
              <a:gs pos="5000">
                <a:schemeClr val="accent4">
                  <a:lumMod val="110000"/>
                  <a:satMod val="105000"/>
                  <a:tint val="67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  <a:effectLst>
            <a:outerShdw blurRad="139700" dist="88900" dir="5700000" sx="94000" sy="94000" algn="ctr" rotWithShape="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09452C2-D1CC-070C-A18B-B8677FE48D70}"/>
              </a:ext>
            </a:extLst>
          </p:cNvPr>
          <p:cNvSpPr/>
          <p:nvPr/>
        </p:nvSpPr>
        <p:spPr>
          <a:xfrm>
            <a:off x="3930920" y="4134358"/>
            <a:ext cx="3922776" cy="768096"/>
          </a:xfrm>
          <a:prstGeom prst="roundRect">
            <a:avLst>
              <a:gd name="adj" fmla="val 38572"/>
            </a:avLst>
          </a:prstGeom>
          <a:gradFill>
            <a:gsLst>
              <a:gs pos="5000">
                <a:schemeClr val="accent4">
                  <a:lumMod val="110000"/>
                  <a:satMod val="105000"/>
                  <a:tint val="67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  <a:effectLst>
            <a:outerShdw blurRad="139700" dist="88900" dir="5700000" sx="94000" sy="94000" algn="ctr" rotWithShape="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FCA2804-9720-9A3F-D8C3-27639AF9DD7B}"/>
              </a:ext>
            </a:extLst>
          </p:cNvPr>
          <p:cNvSpPr/>
          <p:nvPr/>
        </p:nvSpPr>
        <p:spPr>
          <a:xfrm>
            <a:off x="3930920" y="2770687"/>
            <a:ext cx="3922776" cy="768096"/>
          </a:xfrm>
          <a:prstGeom prst="roundRect">
            <a:avLst>
              <a:gd name="adj" fmla="val 38572"/>
            </a:avLst>
          </a:prstGeom>
          <a:gradFill>
            <a:gsLst>
              <a:gs pos="5000">
                <a:schemeClr val="accent4">
                  <a:lumMod val="110000"/>
                  <a:satMod val="105000"/>
                  <a:tint val="67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  <a:effectLst>
            <a:outerShdw blurRad="139700" dist="88900" dir="5700000" sx="94000" sy="94000" algn="ctr" rotWithShape="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3992AF5-4BF7-27EA-A8C3-7FC4C866648C}"/>
              </a:ext>
            </a:extLst>
          </p:cNvPr>
          <p:cNvSpPr/>
          <p:nvPr/>
        </p:nvSpPr>
        <p:spPr>
          <a:xfrm>
            <a:off x="3930920" y="1401373"/>
            <a:ext cx="3922776" cy="768096"/>
          </a:xfrm>
          <a:prstGeom prst="roundRect">
            <a:avLst>
              <a:gd name="adj" fmla="val 38572"/>
            </a:avLst>
          </a:prstGeom>
          <a:gradFill>
            <a:gsLst>
              <a:gs pos="5000">
                <a:schemeClr val="accent4">
                  <a:lumMod val="110000"/>
                  <a:satMod val="105000"/>
                  <a:tint val="67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  <a:effectLst>
            <a:outerShdw blurRad="139700" dist="88900" dir="5700000" sx="94000" sy="94000" algn="ctr" rotWithShape="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494D811-A80E-ECFE-5D4C-EC869C9E7C99}"/>
              </a:ext>
            </a:extLst>
          </p:cNvPr>
          <p:cNvSpPr/>
          <p:nvPr/>
        </p:nvSpPr>
        <p:spPr>
          <a:xfrm>
            <a:off x="3930920" y="56890"/>
            <a:ext cx="3922776" cy="768096"/>
          </a:xfrm>
          <a:prstGeom prst="roundRect">
            <a:avLst>
              <a:gd name="adj" fmla="val 38572"/>
            </a:avLst>
          </a:prstGeom>
          <a:gradFill>
            <a:gsLst>
              <a:gs pos="5000">
                <a:schemeClr val="accent4">
                  <a:lumMod val="110000"/>
                  <a:satMod val="105000"/>
                  <a:tint val="67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  <a:effectLst>
            <a:outerShdw blurRad="139700" dist="88900" dir="5700000" sx="94000" sy="94000" algn="ctr" rotWithShape="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10F79-82CE-57C1-A4FF-1EE969D0010D}"/>
              </a:ext>
            </a:extLst>
          </p:cNvPr>
          <p:cNvSpPr txBox="1">
            <a:spLocks/>
          </p:cNvSpPr>
          <p:nvPr/>
        </p:nvSpPr>
        <p:spPr>
          <a:xfrm>
            <a:off x="3930920" y="77630"/>
            <a:ext cx="3922776" cy="709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 fontAlgn="base"/>
            <a:r>
              <a:rPr lang="en-US" sz="1600" dirty="0">
                <a:solidFill>
                  <a:srgbClr val="FF0000"/>
                </a:solidFill>
                <a:latin typeface="Arial Black" panose="020B0A04020102020204" pitchFamily="34" charset="0"/>
              </a:rPr>
              <a:t>Web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Arial Black" panose="020B0A04020102020204" pitchFamily="34" charset="0"/>
              </a:rPr>
              <a:t>Scraping Process</a:t>
            </a:r>
            <a:endParaRPr lang="en-IN" sz="1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8DBB76-11F1-F42E-054B-A0A37E75899E}"/>
              </a:ext>
            </a:extLst>
          </p:cNvPr>
          <p:cNvSpPr txBox="1"/>
          <p:nvPr/>
        </p:nvSpPr>
        <p:spPr>
          <a:xfrm>
            <a:off x="3930920" y="2844004"/>
            <a:ext cx="38709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 Black" panose="020B0A04020102020204" pitchFamily="34" charset="0"/>
              </a:rPr>
              <a:t>Import necessary libraries</a:t>
            </a:r>
          </a:p>
          <a:p>
            <a:pPr algn="ctr"/>
            <a:r>
              <a:rPr lang="en-US" sz="1600" dirty="0"/>
              <a:t>(</a:t>
            </a:r>
            <a:r>
              <a:rPr lang="en-US" sz="1600" dirty="0" err="1"/>
              <a:t>BeautifulSoup</a:t>
            </a:r>
            <a:r>
              <a:rPr lang="en-US" sz="1600" dirty="0"/>
              <a:t>, Requests)</a:t>
            </a:r>
            <a:endParaRPr lang="en-IN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5E3E83-FBBB-6361-04C5-73E6740CABE5}"/>
              </a:ext>
            </a:extLst>
          </p:cNvPr>
          <p:cNvSpPr txBox="1"/>
          <p:nvPr/>
        </p:nvSpPr>
        <p:spPr>
          <a:xfrm>
            <a:off x="3930920" y="1562907"/>
            <a:ext cx="39227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 Black" panose="020B0A04020102020204" pitchFamily="34" charset="0"/>
              </a:rPr>
              <a:t>Choose Target Website</a:t>
            </a:r>
          </a:p>
          <a:p>
            <a:pPr algn="ctr"/>
            <a:endParaRPr lang="en-IN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51B4E8-2397-0065-1733-F54E32705B8C}"/>
              </a:ext>
            </a:extLst>
          </p:cNvPr>
          <p:cNvSpPr txBox="1"/>
          <p:nvPr/>
        </p:nvSpPr>
        <p:spPr>
          <a:xfrm>
            <a:off x="4037576" y="4323547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 Black" panose="020B0A04020102020204" pitchFamily="34" charset="0"/>
              </a:rPr>
              <a:t>Scrap the Required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FB5082-FFB6-89BB-DD02-FD0B61C5B56D}"/>
              </a:ext>
            </a:extLst>
          </p:cNvPr>
          <p:cNvSpPr txBox="1"/>
          <p:nvPr/>
        </p:nvSpPr>
        <p:spPr>
          <a:xfrm>
            <a:off x="4080224" y="5693636"/>
            <a:ext cx="3721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 Black" panose="020B0A04020102020204" pitchFamily="34" charset="0"/>
              </a:rPr>
              <a:t>Store Data in </a:t>
            </a:r>
            <a:r>
              <a:rPr lang="en-US" sz="1600" dirty="0" err="1">
                <a:latin typeface="Arial Black" panose="020B0A04020102020204" pitchFamily="34" charset="0"/>
              </a:rPr>
              <a:t>DataFrame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4633EB7B-DD01-8EA8-E434-91FCD602AF7A}"/>
              </a:ext>
            </a:extLst>
          </p:cNvPr>
          <p:cNvSpPr/>
          <p:nvPr/>
        </p:nvSpPr>
        <p:spPr>
          <a:xfrm>
            <a:off x="5563124" y="848912"/>
            <a:ext cx="658368" cy="5285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89BDBCD7-232B-00CB-B907-B270146F3389}"/>
              </a:ext>
            </a:extLst>
          </p:cNvPr>
          <p:cNvSpPr/>
          <p:nvPr/>
        </p:nvSpPr>
        <p:spPr>
          <a:xfrm>
            <a:off x="5563124" y="2193413"/>
            <a:ext cx="658368" cy="5285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0EEAC93A-E313-2C6E-BA39-9D14549D2116}"/>
              </a:ext>
            </a:extLst>
          </p:cNvPr>
          <p:cNvSpPr/>
          <p:nvPr/>
        </p:nvSpPr>
        <p:spPr>
          <a:xfrm>
            <a:off x="5563124" y="3575134"/>
            <a:ext cx="658368" cy="5285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FB78BEA0-6C0A-0028-1DC8-A3ADDDC1FD4E}"/>
              </a:ext>
            </a:extLst>
          </p:cNvPr>
          <p:cNvSpPr/>
          <p:nvPr/>
        </p:nvSpPr>
        <p:spPr>
          <a:xfrm>
            <a:off x="5537192" y="4933161"/>
            <a:ext cx="658368" cy="5285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3761419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796F37-4968-11E5-80B7-C16D2A0E72C6}"/>
              </a:ext>
            </a:extLst>
          </p:cNvPr>
          <p:cNvSpPr txBox="1"/>
          <p:nvPr/>
        </p:nvSpPr>
        <p:spPr>
          <a:xfrm>
            <a:off x="470154" y="67638"/>
            <a:ext cx="33959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Data Before Cleaning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07C67-D9BD-3A04-4154-3E6238615F84}"/>
              </a:ext>
            </a:extLst>
          </p:cNvPr>
          <p:cNvSpPr txBox="1"/>
          <p:nvPr/>
        </p:nvSpPr>
        <p:spPr>
          <a:xfrm>
            <a:off x="470154" y="3057662"/>
            <a:ext cx="30581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Data After Cleaning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C6233F-C144-3405-DF95-87C35E491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3639989"/>
            <a:ext cx="10828782" cy="25913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0DB518-CAF8-2F9D-79A5-0A70B92C7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700586"/>
            <a:ext cx="10828782" cy="229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195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41858E-9554-6C6F-9F0E-5D9A4E0EF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50" y="1891280"/>
            <a:ext cx="5221235" cy="41361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47FDA6-0688-9D00-F545-D751B8FE87ED}"/>
              </a:ext>
            </a:extLst>
          </p:cNvPr>
          <p:cNvSpPr txBox="1"/>
          <p:nvPr/>
        </p:nvSpPr>
        <p:spPr>
          <a:xfrm>
            <a:off x="637037" y="565142"/>
            <a:ext cx="609447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7"/>
              </a:spcBef>
              <a:spcAft>
                <a:spcPts val="1210"/>
              </a:spcAft>
              <a:buNone/>
            </a:pPr>
            <a:r>
              <a:rPr lang="en-IN" sz="37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Distribution</a:t>
            </a:r>
            <a:r>
              <a:rPr lang="en-IN" b="0" i="0" dirty="0">
                <a:solidFill>
                  <a:schemeClr val="accent5">
                    <a:lumMod val="75000"/>
                  </a:schemeClr>
                </a:solidFill>
                <a:effectLst/>
                <a:latin typeface="system-ui"/>
              </a:rPr>
              <a:t>  </a:t>
            </a:r>
            <a:r>
              <a:rPr lang="en-IN" sz="37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Of</a:t>
            </a:r>
            <a:r>
              <a:rPr lang="en-IN" b="0" i="0" dirty="0">
                <a:solidFill>
                  <a:schemeClr val="accent5">
                    <a:lumMod val="75000"/>
                  </a:schemeClr>
                </a:solidFill>
                <a:effectLst/>
                <a:latin typeface="system-ui"/>
              </a:rPr>
              <a:t>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  <a:latin typeface="system-ui"/>
              </a:rPr>
              <a:t> </a:t>
            </a:r>
            <a:r>
              <a:rPr lang="en-IN" sz="37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BHK Types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E90BA59-98FA-171B-6BF2-BA24FB4EA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6169" y="2374303"/>
            <a:ext cx="547878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2000" dirty="0"/>
              <a:t>2 BHK flats are the most available in the dataset. </a:t>
            </a:r>
            <a:r>
              <a:rPr lang="en-US" altLang="en-US" sz="2000" dirty="0">
                <a:highlight>
                  <a:srgbClr val="FFFF00"/>
                </a:highlight>
              </a:rPr>
              <a:t>253 </a:t>
            </a:r>
            <a:r>
              <a:rPr lang="en-US" altLang="en-US" sz="2000" dirty="0"/>
              <a:t>listings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20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dirty="0"/>
              <a:t>1 BHK and 4 BHK flats are limited. </a:t>
            </a:r>
            <a:r>
              <a:rPr lang="en-US" altLang="en-US" sz="2000" dirty="0">
                <a:highlight>
                  <a:srgbClr val="FFFF00"/>
                </a:highlight>
              </a:rPr>
              <a:t>34</a:t>
            </a:r>
            <a:r>
              <a:rPr lang="en-US" altLang="en-US" sz="2000" dirty="0"/>
              <a:t> listings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20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dirty="0"/>
              <a:t>3 BHK has the second-highest availability. </a:t>
            </a:r>
            <a:r>
              <a:rPr lang="en-US" altLang="en-US" sz="2000" dirty="0">
                <a:highlight>
                  <a:srgbClr val="FFFF00"/>
                </a:highlight>
              </a:rPr>
              <a:t>163</a:t>
            </a:r>
            <a:r>
              <a:rPr lang="en-US" altLang="en-US" sz="2000" dirty="0"/>
              <a:t> listings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20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dirty="0"/>
              <a:t>5 BHK flats are very rare, indicating low supply in the luxury segment. </a:t>
            </a:r>
            <a:r>
              <a:rPr lang="en-US" altLang="en-US" sz="2000" dirty="0">
                <a:highlight>
                  <a:srgbClr val="FFFF00"/>
                </a:highlight>
              </a:rPr>
              <a:t>9</a:t>
            </a:r>
            <a:r>
              <a:rPr lang="en-US" altLang="en-US" sz="2000" dirty="0"/>
              <a:t> listings</a:t>
            </a:r>
          </a:p>
        </p:txBody>
      </p:sp>
    </p:spTree>
    <p:extLst>
      <p:ext uri="{BB962C8B-B14F-4D97-AF65-F5344CB8AC3E}">
        <p14:creationId xmlns:p14="http://schemas.microsoft.com/office/powerpoint/2010/main" val="369942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1747CD-AB71-C46D-B7E3-38BD553893CD}"/>
              </a:ext>
            </a:extLst>
          </p:cNvPr>
          <p:cNvSpPr txBox="1"/>
          <p:nvPr/>
        </p:nvSpPr>
        <p:spPr>
          <a:xfrm>
            <a:off x="637036" y="565142"/>
            <a:ext cx="8936731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Furnishing Status Distribution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C4F058-7E14-2DE4-421E-C93A770BC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08" y="1909568"/>
            <a:ext cx="4367793" cy="37520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AE8E9C-CBC9-A5AF-33DD-5F950EE17D93}"/>
              </a:ext>
            </a:extLst>
          </p:cNvPr>
          <p:cNvSpPr txBox="1"/>
          <p:nvPr/>
        </p:nvSpPr>
        <p:spPr>
          <a:xfrm>
            <a:off x="5525262" y="2413337"/>
            <a:ext cx="60944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/>
              <a:t>Semi-Furnished flats are the highest (</a:t>
            </a:r>
            <a:r>
              <a:rPr lang="en-US" sz="2000" dirty="0">
                <a:highlight>
                  <a:srgbClr val="FFFF00"/>
                </a:highlight>
              </a:rPr>
              <a:t>36.3%</a:t>
            </a:r>
            <a:r>
              <a:rPr lang="en-US" sz="2000" dirty="0"/>
              <a:t>) in the dataset.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/>
              <a:t>Unfurnished flats come next (</a:t>
            </a:r>
            <a:r>
              <a:rPr lang="en-US" sz="2000" dirty="0">
                <a:highlight>
                  <a:srgbClr val="FFFF00"/>
                </a:highlight>
              </a:rPr>
              <a:t>34.9%</a:t>
            </a:r>
            <a:r>
              <a:rPr lang="en-US" sz="2000" dirty="0"/>
              <a:t>), almost equal to semi-furnished.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/>
              <a:t>Furnished flats are the lowest (</a:t>
            </a:r>
            <a:r>
              <a:rPr lang="en-US" sz="2000" dirty="0">
                <a:highlight>
                  <a:srgbClr val="FFFF00"/>
                </a:highlight>
              </a:rPr>
              <a:t>28.8%</a:t>
            </a:r>
            <a:r>
              <a:rPr lang="en-US" sz="2000" dirty="0"/>
              <a:t>), showing they are less commonly available.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/>
              <a:t>The distribution is fairly balanced, with no category dominating extremely, suggesting diverse renter preferences.</a:t>
            </a:r>
          </a:p>
        </p:txBody>
      </p:sp>
    </p:spTree>
    <p:extLst>
      <p:ext uri="{BB962C8B-B14F-4D97-AF65-F5344CB8AC3E}">
        <p14:creationId xmlns:p14="http://schemas.microsoft.com/office/powerpoint/2010/main" val="3125878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B1B26B-7FB4-662E-4FB0-CDD470CC9A2F}"/>
              </a:ext>
            </a:extLst>
          </p:cNvPr>
          <p:cNvSpPr txBox="1"/>
          <p:nvPr/>
        </p:nvSpPr>
        <p:spPr>
          <a:xfrm>
            <a:off x="637036" y="565142"/>
            <a:ext cx="7235947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7"/>
              </a:spcBef>
              <a:spcAft>
                <a:spcPts val="1210"/>
              </a:spcAft>
            </a:pPr>
            <a:r>
              <a:rPr lang="en-US" sz="37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Average Rent by Furnishing </a:t>
            </a:r>
            <a:endParaRPr lang="en-IN" sz="3700" b="1" dirty="0">
              <a:solidFill>
                <a:schemeClr val="accent5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8ACA40-CD4D-8067-0B1C-1778C18CC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90" y="1517229"/>
            <a:ext cx="5462027" cy="443636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4DF3BFA-CF4E-D954-B1C3-96AB10D55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704" y="1517229"/>
            <a:ext cx="5867406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dirty="0"/>
              <a:t>Rent increases sharply as BHK count increases.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0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dirty="0"/>
              <a:t>For every BHK category, Furnished flats have the highest rent, followed by Semi-Furnished.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0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dirty="0"/>
              <a:t>Unfurnished flats consistently have the lowest rent across all BHK types.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0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dirty="0"/>
              <a:t>The gap between furnished vs unfurnished rent becomes very large for 4 BHK and 5 BHK flats — indicating luxury properties charge premium for furnishing.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0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dirty="0"/>
              <a:t>Furnishing significantly impacts rent, especially in higher-BHK segments.</a:t>
            </a:r>
          </a:p>
        </p:txBody>
      </p:sp>
    </p:spTree>
    <p:extLst>
      <p:ext uri="{BB962C8B-B14F-4D97-AF65-F5344CB8AC3E}">
        <p14:creationId xmlns:p14="http://schemas.microsoft.com/office/powerpoint/2010/main" val="3231874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9260C8-22A2-96A7-4D66-158E182B3297}"/>
              </a:ext>
            </a:extLst>
          </p:cNvPr>
          <p:cNvSpPr txBox="1"/>
          <p:nvPr/>
        </p:nvSpPr>
        <p:spPr>
          <a:xfrm>
            <a:off x="637037" y="565142"/>
            <a:ext cx="609447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7"/>
              </a:spcBef>
              <a:spcAft>
                <a:spcPts val="1210"/>
              </a:spcAft>
            </a:pPr>
            <a:r>
              <a:rPr lang="en-IN" sz="37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Rent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DA7B45-AECF-3843-4899-6CD1AB118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4" y="1944620"/>
            <a:ext cx="5565659" cy="357226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3A558FD-B30A-69E6-952E-4CDFDD4D1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243276"/>
            <a:ext cx="556565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2000" dirty="0"/>
              <a:t>Most rental properties fall in the ₹</a:t>
            </a:r>
            <a:r>
              <a:rPr lang="en-US" altLang="en-US" sz="2000" dirty="0">
                <a:highlight>
                  <a:srgbClr val="FFFF00"/>
                </a:highlight>
              </a:rPr>
              <a:t>15,000</a:t>
            </a:r>
            <a:r>
              <a:rPr lang="en-US" altLang="en-US" sz="2000" dirty="0"/>
              <a:t> – ₹</a:t>
            </a:r>
            <a:r>
              <a:rPr lang="en-US" altLang="en-US" sz="2000" dirty="0">
                <a:highlight>
                  <a:srgbClr val="FFFF00"/>
                </a:highlight>
              </a:rPr>
              <a:t>40,000</a:t>
            </a:r>
            <a:r>
              <a:rPr lang="en-US" altLang="en-US" sz="2000" dirty="0"/>
              <a:t> range.</a:t>
            </a:r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2000" dirty="0"/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2000" dirty="0"/>
              <a:t>The distribution is right-skewed, meaning a few properties have extremely high rent(₹</a:t>
            </a:r>
            <a:r>
              <a:rPr lang="en-US" altLang="en-US" sz="2000" dirty="0">
                <a:highlight>
                  <a:srgbClr val="FFFF00"/>
                </a:highlight>
              </a:rPr>
              <a:t>1,00,000+</a:t>
            </a:r>
            <a:r>
              <a:rPr lang="en-US" altLang="en-US" sz="2000" dirty="0"/>
              <a:t>).</a:t>
            </a:r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2000" dirty="0"/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2000" dirty="0"/>
              <a:t>High-rent flats (luxury segment) are rare but significantly pull the average upward.</a:t>
            </a:r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2000" dirty="0"/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2000" dirty="0"/>
              <a:t>Majority of flats are affordable to mid-range renters.</a:t>
            </a:r>
          </a:p>
        </p:txBody>
      </p:sp>
    </p:spTree>
    <p:extLst>
      <p:ext uri="{BB962C8B-B14F-4D97-AF65-F5344CB8AC3E}">
        <p14:creationId xmlns:p14="http://schemas.microsoft.com/office/powerpoint/2010/main" val="2520184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F32A45-863A-5EA1-7FD6-1012FCE591D6}"/>
              </a:ext>
            </a:extLst>
          </p:cNvPr>
          <p:cNvSpPr txBox="1"/>
          <p:nvPr/>
        </p:nvSpPr>
        <p:spPr>
          <a:xfrm>
            <a:off x="637037" y="565142"/>
            <a:ext cx="609447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7"/>
              </a:spcBef>
              <a:spcAft>
                <a:spcPts val="1210"/>
              </a:spcAft>
            </a:pPr>
            <a:r>
              <a:rPr lang="en-US" sz="37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Average Rent by BHK </a:t>
            </a:r>
            <a:endParaRPr lang="en-IN" sz="3700" b="1" dirty="0">
              <a:solidFill>
                <a:schemeClr val="accent5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A7DED5-097C-3FFC-C063-958C856E2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2" y="1913998"/>
            <a:ext cx="5462027" cy="4136144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5C06171-2826-6F75-0553-DB3D5837D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0933" y="1913998"/>
            <a:ext cx="6178291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dirty="0"/>
              <a:t>As BHK increases, the average rent rises sharply.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0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dirty="0"/>
              <a:t>2 BHK and 3 BHK have moderate rents, widely preferred by families.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0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dirty="0"/>
              <a:t>4 BHK and especially 5 BHK flats show very high rent, indicating a luxury segment with premium pricing.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0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dirty="0"/>
              <a:t>The jump from 3 BHK → 4 BHK and 4 BHK → 5 BHK is very steep, showing rent grows exponentially, not linearly, with property size.</a:t>
            </a:r>
          </a:p>
        </p:txBody>
      </p:sp>
    </p:spTree>
    <p:extLst>
      <p:ext uri="{BB962C8B-B14F-4D97-AF65-F5344CB8AC3E}">
        <p14:creationId xmlns:p14="http://schemas.microsoft.com/office/powerpoint/2010/main" val="1634246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889F96-495B-BCB4-37C6-E2C00E7DA918}"/>
              </a:ext>
            </a:extLst>
          </p:cNvPr>
          <p:cNvSpPr txBox="1"/>
          <p:nvPr/>
        </p:nvSpPr>
        <p:spPr>
          <a:xfrm>
            <a:off x="637037" y="565142"/>
            <a:ext cx="609447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7"/>
              </a:spcBef>
              <a:spcAft>
                <a:spcPts val="1210"/>
              </a:spcAft>
            </a:pPr>
            <a:r>
              <a:rPr lang="en-IN" sz="37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Carpet Area vs Rent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E7ADD0-EB7B-538C-10CC-0FE2C2590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62" y="1872992"/>
            <a:ext cx="5149814" cy="4136144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0848912-6273-7BCD-B41C-1C78B4ABF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2977" y="1915708"/>
            <a:ext cx="6524461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2000" dirty="0"/>
              <a:t>There is a strong positive correlation between carpet area and rent.</a:t>
            </a:r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2000" dirty="0"/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2000" dirty="0"/>
              <a:t>As carpet area increases, the rent consistently increases.</a:t>
            </a:r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2000" dirty="0"/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2000" dirty="0"/>
              <a:t>Smaller flats (500–1200 </a:t>
            </a:r>
            <a:r>
              <a:rPr lang="en-US" altLang="en-US" sz="2000" dirty="0" err="1"/>
              <a:t>sqft</a:t>
            </a:r>
            <a:r>
              <a:rPr lang="en-US" altLang="en-US" sz="2000" dirty="0"/>
              <a:t>) are densely clustered with moderate rent values.</a:t>
            </a:r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2000" dirty="0"/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2000" dirty="0"/>
              <a:t>Larger flats (3000+ </a:t>
            </a:r>
            <a:r>
              <a:rPr lang="en-US" altLang="en-US" sz="2000" dirty="0" err="1"/>
              <a:t>sqft</a:t>
            </a:r>
            <a:r>
              <a:rPr lang="en-US" altLang="en-US" sz="2000" dirty="0"/>
              <a:t>) show very high rent values, indicating luxury segment pricing.</a:t>
            </a:r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2000" dirty="0"/>
          </a:p>
          <a:p>
            <a: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2000" dirty="0"/>
              <a:t>The trend line confirms a linear upward trend, showing carpet area is a major factor influencing rent.</a:t>
            </a:r>
          </a:p>
        </p:txBody>
      </p:sp>
    </p:spTree>
    <p:extLst>
      <p:ext uri="{BB962C8B-B14F-4D97-AF65-F5344CB8AC3E}">
        <p14:creationId xmlns:p14="http://schemas.microsoft.com/office/powerpoint/2010/main" val="3724064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C11D02-992D-C6DB-EAF8-8127EA16B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63" y="1891280"/>
            <a:ext cx="5296118" cy="41361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0E3DAE-4484-E0E9-4139-98066E783128}"/>
              </a:ext>
            </a:extLst>
          </p:cNvPr>
          <p:cNvSpPr txBox="1"/>
          <p:nvPr/>
        </p:nvSpPr>
        <p:spPr>
          <a:xfrm>
            <a:off x="234701" y="499716"/>
            <a:ext cx="114104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7"/>
              </a:spcBef>
              <a:spcAft>
                <a:spcPts val="1210"/>
              </a:spcAft>
            </a:pPr>
            <a:r>
              <a:rPr lang="en-US" sz="37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How Rent Changes By BHK Type In Pune vs Nashik</a:t>
            </a:r>
            <a:endParaRPr lang="en-IN" sz="3700" b="1" dirty="0">
              <a:solidFill>
                <a:schemeClr val="accent5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79690-C121-9148-CC9D-9D1E548D0D21}"/>
              </a:ext>
            </a:extLst>
          </p:cNvPr>
          <p:cNvSpPr txBox="1"/>
          <p:nvPr/>
        </p:nvSpPr>
        <p:spPr>
          <a:xfrm>
            <a:off x="5440681" y="1803191"/>
            <a:ext cx="6751319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2000" dirty="0"/>
              <a:t>Pune has higher rent across all BHK types — showing a more expensive and competitive market.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IN" sz="10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2000" dirty="0"/>
              <a:t>Rent gap increases with BHK size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000" dirty="0"/>
              <a:t>	- 1–2 BHK: small gap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000" dirty="0"/>
              <a:t> 	- 3–4 BHK: Pune is 2–3× costlier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000" dirty="0"/>
              <a:t>	- 5 BHK: Only Pune has listings (very high rent)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10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2000" dirty="0"/>
              <a:t>Nashik rents are stable and affordable, with slower rent growth across BHKs.</a:t>
            </a:r>
            <a:endParaRPr lang="en-IN" sz="12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IN" sz="10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2000" dirty="0"/>
              <a:t>Pune shows steep price jumps after 3 BHK, indicating luxury and premium apartment availability.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IN" sz="10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2000" dirty="0"/>
              <a:t>Overall: Pune shows strong rent inflation by BHK, while Nashik remains the budget-friendly option.</a:t>
            </a:r>
          </a:p>
        </p:txBody>
      </p:sp>
    </p:spTree>
    <p:extLst>
      <p:ext uri="{BB962C8B-B14F-4D97-AF65-F5344CB8AC3E}">
        <p14:creationId xmlns:p14="http://schemas.microsoft.com/office/powerpoint/2010/main" val="742231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9BFCD3B-BCCF-C95E-53BC-CE5C37CCC600}"/>
              </a:ext>
            </a:extLst>
          </p:cNvPr>
          <p:cNvSpPr txBox="1">
            <a:spLocks/>
          </p:cNvSpPr>
          <p:nvPr/>
        </p:nvSpPr>
        <p:spPr>
          <a:xfrm>
            <a:off x="442912" y="300085"/>
            <a:ext cx="10811256" cy="796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chemeClr val="accent5">
                    <a:lumMod val="75000"/>
                  </a:schemeClr>
                </a:solidFill>
              </a:rPr>
              <a:t>Key Insights From Analysis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BE1AB2-BF82-63C9-8320-74C59BAC3CD2}"/>
              </a:ext>
            </a:extLst>
          </p:cNvPr>
          <p:cNvCxnSpPr>
            <a:cxnSpLocks/>
          </p:cNvCxnSpPr>
          <p:nvPr/>
        </p:nvCxnSpPr>
        <p:spPr>
          <a:xfrm flipH="1">
            <a:off x="442912" y="1216787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679E7B8-5F0D-5DAF-9DE8-1BAA3BD0B5E6}"/>
              </a:ext>
            </a:extLst>
          </p:cNvPr>
          <p:cNvSpPr txBox="1"/>
          <p:nvPr/>
        </p:nvSpPr>
        <p:spPr>
          <a:xfrm>
            <a:off x="868680" y="1547785"/>
            <a:ext cx="1058779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2000" dirty="0"/>
              <a:t>2 &amp; 3 BHK are the most common rental options.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0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2000" dirty="0"/>
              <a:t> Most rents fall in the ₹15k–₹40k range.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2000" dirty="0"/>
              <a:t> Rent increases as BHK increases.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2000" dirty="0"/>
              <a:t> Semi-Furnished and Unfurnished flats dominate the market but Furnished flats consistently charge higher rent.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2000" dirty="0"/>
              <a:t>Pune is significantly more expensive than Nashik.</a:t>
            </a:r>
          </a:p>
        </p:txBody>
      </p:sp>
    </p:spTree>
    <p:extLst>
      <p:ext uri="{BB962C8B-B14F-4D97-AF65-F5344CB8AC3E}">
        <p14:creationId xmlns:p14="http://schemas.microsoft.com/office/powerpoint/2010/main" val="570444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0A4A3-8DB5-E051-21F9-8019751B277B}"/>
              </a:ext>
            </a:extLst>
          </p:cNvPr>
          <p:cNvSpPr txBox="1">
            <a:spLocks/>
          </p:cNvSpPr>
          <p:nvPr/>
        </p:nvSpPr>
        <p:spPr>
          <a:xfrm>
            <a:off x="442912" y="300085"/>
            <a:ext cx="3004376" cy="796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700" b="1" dirty="0">
                <a:solidFill>
                  <a:schemeClr val="accent5">
                    <a:lumMod val="75000"/>
                  </a:schemeClr>
                </a:solidFill>
              </a:rPr>
              <a:t>Experience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690B0F4-5EFC-9822-F696-AF54143F65C1}"/>
              </a:ext>
            </a:extLst>
          </p:cNvPr>
          <p:cNvCxnSpPr>
            <a:cxnSpLocks/>
          </p:cNvCxnSpPr>
          <p:nvPr/>
        </p:nvCxnSpPr>
        <p:spPr>
          <a:xfrm flipH="1">
            <a:off x="442912" y="1216787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85AF20F-ADB3-F52C-B2A4-3DB484896499}"/>
              </a:ext>
            </a:extLst>
          </p:cNvPr>
          <p:cNvSpPr txBox="1"/>
          <p:nvPr/>
        </p:nvSpPr>
        <p:spPr>
          <a:xfrm>
            <a:off x="733806" y="1370081"/>
            <a:ext cx="92514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/>
              <a:t>Extracted real property data from multiple pages and structured it into a usable dataset.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/>
              <a:t>Converted raw text into meaningful features (BHK, area, rent, furnishing, floor).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/>
              <a:t>Discovered how BHK, carpet area, city, and furnishing influence pricing.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56703-70A2-8430-01CE-141898F5A638}"/>
              </a:ext>
            </a:extLst>
          </p:cNvPr>
          <p:cNvSpPr txBox="1"/>
          <p:nvPr/>
        </p:nvSpPr>
        <p:spPr>
          <a:xfrm>
            <a:off x="442912" y="3429000"/>
            <a:ext cx="3124962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7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Challenges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C0BE0C-3227-BC0B-3063-28F0D45706B8}"/>
              </a:ext>
            </a:extLst>
          </p:cNvPr>
          <p:cNvSpPr txBox="1"/>
          <p:nvPr/>
        </p:nvSpPr>
        <p:spPr>
          <a:xfrm>
            <a:off x="733806" y="4218724"/>
            <a:ext cx="1000125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/>
              <a:t>Had to clean text, remove symbols, fix missing values, and standardize units.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/>
              <a:t>Many features were mixed in one tag, so regex + custom parsing was needed.</a:t>
            </a:r>
          </a:p>
          <a:p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BEE22B-3C70-568D-F70C-07982EF6AF8A}"/>
              </a:ext>
            </a:extLst>
          </p:cNvPr>
          <p:cNvCxnSpPr>
            <a:cxnSpLocks/>
          </p:cNvCxnSpPr>
          <p:nvPr/>
        </p:nvCxnSpPr>
        <p:spPr>
          <a:xfrm flipH="1">
            <a:off x="442912" y="4090720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374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149DF-860B-8636-B64B-F8D1E786CEA3}"/>
              </a:ext>
            </a:extLst>
          </p:cNvPr>
          <p:cNvSpPr txBox="1">
            <a:spLocks/>
          </p:cNvSpPr>
          <p:nvPr/>
        </p:nvSpPr>
        <p:spPr>
          <a:xfrm>
            <a:off x="442912" y="300085"/>
            <a:ext cx="10811256" cy="796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rgbClr val="FF0000"/>
                </a:solidFill>
              </a:rPr>
              <a:t> </a:t>
            </a:r>
          </a:p>
          <a:p>
            <a:endParaRPr lang="en-IN" sz="4800" b="1" dirty="0">
              <a:solidFill>
                <a:srgbClr val="FF0000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371FD8F-2286-C9DB-DAAE-E6D8CAC629BE}"/>
              </a:ext>
            </a:extLst>
          </p:cNvPr>
          <p:cNvCxnSpPr>
            <a:cxnSpLocks/>
          </p:cNvCxnSpPr>
          <p:nvPr/>
        </p:nvCxnSpPr>
        <p:spPr>
          <a:xfrm flipH="1">
            <a:off x="442912" y="1216787"/>
            <a:ext cx="11306175" cy="0"/>
          </a:xfrm>
          <a:prstGeom prst="line">
            <a:avLst/>
          </a:prstGeom>
          <a:ln w="317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3B6B0654-83CD-C689-7A25-B61AA6801A1D}"/>
              </a:ext>
            </a:extLst>
          </p:cNvPr>
          <p:cNvSpPr txBox="1">
            <a:spLocks/>
          </p:cNvSpPr>
          <p:nvPr/>
        </p:nvSpPr>
        <p:spPr>
          <a:xfrm>
            <a:off x="595312" y="452485"/>
            <a:ext cx="10811256" cy="796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chemeClr val="accent5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D0D293-9B4B-5639-3CE6-694FF102E59D}"/>
              </a:ext>
            </a:extLst>
          </p:cNvPr>
          <p:cNvSpPr txBox="1"/>
          <p:nvPr/>
        </p:nvSpPr>
        <p:spPr>
          <a:xfrm>
            <a:off x="595312" y="1582341"/>
            <a:ext cx="1065885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/>
              <a:t>1. Successfully scraped and built a structured rental dataset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	Converted messy, unorganized website data into a clean and analyzable format.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/>
              <a:t>2. Identified key factors affecting rent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	BHK, carpet area, furnishing status, locality, and city significantly influence rental pricing.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/>
              <a:t>3. Clear rental trends and insights were discovered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	Most rents fall in the mid-range, 2–3 BHK dominate the market, furnished flats cost more, and 	Pune’s rent is much higher than Nashik.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/>
              <a:t>4. Analysis helps in better decision-making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	The insights can support tenants, owners, and agents in comparing properties and understanding 	true market value.</a:t>
            </a:r>
          </a:p>
        </p:txBody>
      </p:sp>
    </p:spTree>
    <p:extLst>
      <p:ext uri="{BB962C8B-B14F-4D97-AF65-F5344CB8AC3E}">
        <p14:creationId xmlns:p14="http://schemas.microsoft.com/office/powerpoint/2010/main" val="3506824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C46AE-D969-717B-562E-92B895B63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73151"/>
            <a:ext cx="10573512" cy="598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29200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3980</TotalTime>
  <Words>1059</Words>
  <Application>Microsoft Office PowerPoint</Application>
  <PresentationFormat>Widescreen</PresentationFormat>
  <Paragraphs>128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Black</vt:lpstr>
      <vt:lpstr>Calibri</vt:lpstr>
      <vt:lpstr>Gill Sans MT</vt:lpstr>
      <vt:lpstr>system-ui</vt:lpstr>
      <vt:lpstr>Wingdings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Milind Bagad</dc:creator>
  <cp:lastModifiedBy>Milind Bagad</cp:lastModifiedBy>
  <cp:revision>18</cp:revision>
  <dcterms:created xsi:type="dcterms:W3CDTF">2025-11-18T12:07:20Z</dcterms:created>
  <dcterms:modified xsi:type="dcterms:W3CDTF">2025-12-14T14:30:48Z</dcterms:modified>
</cp:coreProperties>
</file>